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Replace [Team identifier] with the registered team ID before recording. Source: paper/DRAFT.md title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One-page summary of the whole talk, in the same spirit as a plain-language abstract. Source: paper/DRAFT.md Abstract and Section 1 (Introduction).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 with what the contest actually asks us to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contest gives us 400 posed images and asks for a model that renders both RGB and a semantic map from any camera pose, scored on a blind held-out set we never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specific properties of this dataset make the task non-trivial, independent of model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careful to separate the organizer's actual scoring rule from our own documented choice for how to combine PSNR/SSIM/LPIPS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situate our method between plain 3DGS and the family of attribute-augmented Gaussian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our own summary, not copied from any single cited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plain-language framing of 3D Gaussian Splatting before we add semantics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architectural idea: one shared rasterization pass, two outputs split from the same 8-channel tensor.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is reused verbatim from the paper. Walk through: geometry+opacity, RGB (sigmoid), semantic logits (unconstrained) concatenate, one rasterization pass, argmax for the class map, and the two losses that update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geometry and semantics start from a real, data-derived guess, which the training loss then refines.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SegFormer's job is only to extend semantic supervision to the unlabeled images; it never contributes to the final Gaussian model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was the first of several concrete pipeline bugs we found and fixed during development, each verified against real re-measured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real bug with a real before/after measurement — not a hyperparameter tweak. Numbers come from re-running the full pipeline both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subtle of the three fixes — the leak was only in the one-time geometric/photometric initialization, not the training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actual pipeline diagram from the paper, with the real current counts: 82,518 sparse points, 370 supervised views, 600,583 final Gaussians.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setup slide before results, matching the paper's own experimental protocol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keep Task A's own mIoU clearly separate from Task B's, since both are called mIoU but measure different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deliberately keeps the paper's own hedged, non-causal framing rather than overstating what the descriptive statistics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 250 is the cleanest RGB reconstruction by every metric; 010 and 300 show comparable RGB degradation. Notably, the semantic map stays close to ground truth in all four views even where RGB is visibly degraded.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explicit that Figure 8 panel (b) is not the same computation as the evaluated semantic output — it recolors before compositing, the metric argmaxes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resolution is the better default within what we actually tested — we do not overstate generalization beyond this paired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dedicated limitations slide, matching the paper's own explicit hedging rather than a generic closing disclaimer.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summary, staying within exactly what the paper itself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with the repository link, matching Section 1's stated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463040"/>
            <a:ext cx="10515600" cy="2011680"/>
          </a:xfrm>
          <a:prstGeom prst="roundRect">
            <a:avLst>
              <a:gd name="adj" fmla="val 6000"/>
            </a:avLst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Multi-View Semantic 3D Gaussian Splatting for</a:t>
            </a:r>
          </a:p>
          <a:p>
            <a:pPr algn="ctr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Component-Aware Bridge Reconstruction from UAV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8892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D8DCF0"/>
                </a:solidFill>
                <a:latin typeface="Calibri"/>
              </a:rPr>
              <a:t>Rendering a bridge's appearance and its structural parts from any camera pose, in one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Quoc-Bao Ta      Trung Ha Nguyen      Thai Ha Dang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3484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A5A5A"/>
                </a:solidFill>
                <a:latin typeface="Calibri"/>
              </a:rPr>
              <a:t>IC-SHM 2026 — Project 2: Multi-view Semantic 3D Reconstruction of Bridge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0060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A5A5A"/>
                </a:solidFill>
                <a:latin typeface="Calibri"/>
              </a:rPr>
              <a:t>[Team identifier]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story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 / 30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06984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The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990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5A5A"/>
                </a:solidFill>
                <a:latin typeface="Calibri"/>
              </a:rPr>
              <a:t>Given 400 posed UAV images of a suspension bridge, render both an RGB image and a 5-class semantic map from an arbitrary camera pose.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198424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What existed 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134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5A5A"/>
                </a:solidFill>
                <a:latin typeface="Calibri"/>
              </a:rPr>
              <a:t>3D Gaussian Splatting renders photorealistic RGB but carries no semantics; 2D segmentation gives labels but not a renderable 3D scene.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289864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8986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Our backbone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278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5A5A"/>
                </a:solidFill>
                <a:latin typeface="Calibri"/>
              </a:rPr>
              <a:t>Semantic 3D Gaussian Splatting: give each Gaussian 5 extra semantic logits and render RGB + semantics in one fused rasterization pass.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81304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8130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Our additions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422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5A5A"/>
                </a:solidFill>
                <a:latin typeface="Calibri"/>
              </a:rPr>
              <a:t>Multi-view plurality-vote semantic warm-start; SegFormer pseudo-labels for the 100 unlabeled images; three real bugs found and fixed.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472744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727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The experiment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566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5A5A"/>
                </a:solidFill>
                <a:latin typeface="Calibri"/>
              </a:rPr>
              <a:t>PSNR 22.43 dB, SSIM 0.854, LPIPS 0.321, structural mIoU 92.08% on 30 held-out test views.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64184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641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235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What we learned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710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5A5A"/>
                </a:solidFill>
                <a:latin typeface="Calibri"/>
              </a:rPr>
              <a:t>High cable IoU reflects a coarse annotation convention, not precise cable geometry recovery — and after fixing other bugs, resolution matters less than it first appeared 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Part 1: 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 / 30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441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5E"/>
                </a:solidFill>
                <a:latin typeface="Calibri"/>
              </a:rPr>
              <a:t>Part 1 — The task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4884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2140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2 — Related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3 — The backbone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4 — Our adaptations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5312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5 — Experiments and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2303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6 — Discussion and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exactly are we asked to build?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5E"/>
                </a:solidFill>
                <a:latin typeface="Calibri"/>
              </a:rPr>
              <a:t>Input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49961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17320"/>
            <a:ext cx="3035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400 posed UAV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72821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300 carry manual polygon labels; 100 do not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23113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48840"/>
            <a:ext cx="3035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Camera calibration + poses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5973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SfM estimates, documented as “reference only”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5E"/>
                </a:solidFill>
                <a:latin typeface="Calibri"/>
              </a:rPr>
              <a:t>Required output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557016"/>
            <a:ext cx="118872" cy="11887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474720"/>
            <a:ext cx="3035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RGB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78561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matching a held-out photograph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4151376"/>
            <a:ext cx="118872" cy="118872"/>
          </a:xfrm>
          <a:prstGeom prst="ellipse">
            <a:avLst/>
          </a:prstGeom>
          <a:solidFill>
            <a:srgbClr val="00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069080"/>
            <a:ext cx="3035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Semantic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37997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5 classes, see center column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474573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663440"/>
            <a:ext cx="30358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...from any query 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97433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poses never captured during the flight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1005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5E"/>
                </a:solidFill>
                <a:latin typeface="Calibri"/>
              </a:rPr>
              <a:t>5 semantic classes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490472"/>
            <a:ext cx="292608" cy="292608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14630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background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1965960"/>
            <a:ext cx="292608" cy="29260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193852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deck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441448"/>
            <a:ext cx="292608" cy="292608"/>
          </a:xfrm>
          <a:prstGeom prst="rect">
            <a:avLst/>
          </a:prstGeom>
          <a:solidFill>
            <a:srgbClr val="00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2414016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stay_cable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916936"/>
            <a:ext cx="292608" cy="292608"/>
          </a:xfrm>
          <a:prstGeom prst="rect">
            <a:avLst/>
          </a:prstGeom>
          <a:solidFill>
            <a:srgbClr val="0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288950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tower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392424"/>
            <a:ext cx="292608" cy="292608"/>
          </a:xfrm>
          <a:prstGeom prst="rect">
            <a:avLst/>
          </a:prstGeom>
          <a:solidFill>
            <a:srgbClr val="D2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3649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foundation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393192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5A330B"/>
                </a:solidFill>
              </a:rPr>
              <a:t>Think about it:  </a:t>
            </a:r>
            <a:r>
              <a:rPr sz="1400">
                <a:solidFill>
                  <a:srgbClr val="5A330B"/>
                </a:solidFill>
              </a:rPr>
              <a:t>The competition brief calls the physical component “main cable” (p. 9); the dataset's own class ID is stay_cable. We keep the dataset ID for scoring and name the physical part correctly in prose.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10058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5E"/>
                </a:solidFill>
                <a:latin typeface="Calibri"/>
              </a:rPr>
              <a:t>Blind evaluation</a:t>
            </a:r>
          </a:p>
        </p:txBody>
      </p:sp>
      <p:sp>
        <p:nvSpPr>
          <p:cNvPr id="35" name="Oval 34"/>
          <p:cNvSpPr/>
          <p:nvPr/>
        </p:nvSpPr>
        <p:spPr>
          <a:xfrm>
            <a:off x="7818120" y="154533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4152" y="1463040"/>
            <a:ext cx="3675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Visual fidelity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1773936"/>
            <a:ext cx="3675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PSNR, SSIM, LPIPS</a:t>
            </a:r>
          </a:p>
        </p:txBody>
      </p:sp>
      <p:sp>
        <p:nvSpPr>
          <p:cNvPr id="38" name="Oval 37"/>
          <p:cNvSpPr/>
          <p:nvPr/>
        </p:nvSpPr>
        <p:spPr>
          <a:xfrm>
            <a:off x="7818120" y="218541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74152" y="2103120"/>
            <a:ext cx="3675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Semantic accuracy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2" y="2414016"/>
            <a:ext cx="3675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mIoU over the 4 structural classes</a:t>
            </a:r>
          </a:p>
        </p:txBody>
      </p:sp>
      <p:sp>
        <p:nvSpPr>
          <p:cNvPr id="41" name="Oval 40"/>
          <p:cNvSpPr/>
          <p:nvPr/>
        </p:nvSpPr>
        <p:spPr>
          <a:xfrm>
            <a:off x="7818120" y="282549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4152" y="2743200"/>
            <a:ext cx="3675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Accuracy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2" y="3054096"/>
            <a:ext cx="36758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= 0.5 × Visual Fidelity + 0.5 × Semantic mIoU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393192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111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Key idea:  </a:t>
            </a:r>
            <a:r>
              <a:rPr sz="1400">
                <a:solidFill>
                  <a:srgbClr val="FFFFFF"/>
                </a:solidFill>
              </a:rPr>
              <a:t>Our numbers are all measured on a local 30-view holdout carved from the released data — not the organizers' blind test set.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1 (Introduction), Section 3.1; competition brief p. 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Why is this hard? Three 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4 / 30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11556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Calibri"/>
              </a:rPr>
              <a:t>Coarse cable annotation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A5A5A"/>
                </a:solidFill>
                <a:latin typeface="Calibri"/>
              </a:rPr>
              <a:t>Physical cable strands span only a few pixels, but the stay_cable polygon encloses the whole cable-and-hanger region — including sky and river between the strands. High overlap with this label does not mean precise strand geometry.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48716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871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Calibri"/>
              </a:rPr>
              <a:t>A quarter of the images are unlabeled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A5A5A"/>
                </a:solidFill>
                <a:latin typeface="Calibri"/>
              </a:rPr>
              <a:t>100 of 400 images carry no manual annotation. Using their viewpoints for semantic supervision requires pseudo-labeling.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85876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587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40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Calibri"/>
              </a:rPr>
              <a:t>Camera poses are estimates, not ground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8795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A5A5A"/>
                </a:solidFill>
                <a:latin typeface="Calibri"/>
              </a:rPr>
              <a:t>Poses come from Structure-from-Motion and are documented as “reference only”, so residual geometric inconsistency can affect rendering quality.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623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5A330B"/>
                </a:solidFill>
              </a:rPr>
              <a:t>Think about it:  </a:t>
            </a:r>
            <a:r>
              <a:rPr sz="1400">
                <a:solidFill>
                  <a:srgbClr val="5A330B"/>
                </a:solidFill>
              </a:rPr>
              <a:t>None of these three problems is solved by a bigger model — each needs its own targeted fix, covered in Part 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1 (Introduction).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How is the answer scored?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B2A5E"/>
                </a:solidFill>
                <a:latin typeface="Calibri"/>
              </a:rPr>
              <a:t>Accuracy Score  =  0.5 × Visual Fidelity (PSNR / SSIM / LPIPS)  +  0.5 × Semantic mIoU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209397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11680"/>
            <a:ext cx="10716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PSNR / SSIM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22576"/>
            <a:ext cx="10716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pixel and structural similarity between rendered and real RGB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64261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560320"/>
            <a:ext cx="10716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LPIPS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871216"/>
            <a:ext cx="10716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a learned perceptual distance (AlexNet backbone), lower is better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19125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108960"/>
            <a:ext cx="10716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Structural mIoU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19856"/>
            <a:ext cx="10716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mean IoU over the 4 structural classes; we also report the 5-class mIoU (including background) for 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31920"/>
            <a:ext cx="11247120" cy="118872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5A330B"/>
                </a:solidFill>
              </a:rPr>
              <a:t>Think about it:  </a:t>
            </a:r>
            <a:r>
              <a:rPr sz="1400">
                <a:solidFill>
                  <a:srgbClr val="5A330B"/>
                </a:solidFill>
              </a:rPr>
              <a:t>The brief specifies the 0.5/0.5 weighting but does not define how PSNR/SSIM/LPIPS combine into one “Visual Fidelity” number. We document our own combination explicitly as illustrative, not an organizer-defined formula.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4.3 (Metrics), Illustrative combined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Part 2: What existed 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6 / 30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441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1 — The task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48840"/>
            <a:ext cx="365760" cy="365760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2140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5E"/>
                </a:solidFill>
                <a:latin typeface="Calibri"/>
              </a:rPr>
              <a:t>Part 2 — Related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3 — The backbone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4 — Our adaptations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5312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5 — Experiments and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2303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6 — Discussion and conclusion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From implicit fields to explicit, labelable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7 / 30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11556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NeRF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5A5A"/>
                </a:solidFill>
                <a:latin typeface="Calibri"/>
              </a:rPr>
              <a:t>Implicit, coordinate-based network; renders via ray-marching. High quality, slow, and no natural place to attach a discrete label.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53288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532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3D Gaussian Splatting (Kerbl et al.)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5A5A"/>
                </a:solidFill>
                <a:latin typeface="Calibri"/>
              </a:rPr>
              <a:t>Explicit anisotropic Gaussians, tile-based rasterization. Real-time, and every pixel traces to an addressable set of primitives — the property we build on.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95020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9502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A1A1A"/>
                </a:solidFill>
                <a:latin typeface="Calibri"/>
              </a:rPr>
              <a:t>Semantic-NeRF / Feature-3DGS / LangSplat / Gaussian Grouping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7939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5A5A"/>
                </a:solidFill>
                <a:latin typeface="Calibri"/>
              </a:rPr>
              <a:t>Attach extra attributes (semantic logits, distilled 2D features, language embeddings, SAM-derived identity codes) to a renderable representation — but for different supervision and different downstream tasks than 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4864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11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Key idea:  </a:t>
            </a:r>
            <a:r>
              <a:rPr sz="1400">
                <a:solidFill>
                  <a:srgbClr val="FFFFFF"/>
                </a:solidFill>
              </a:rPr>
              <a:t>Our task needs class IDs for a fixed set of bridge components — so we optimize five class logits directly against real and pseudo-labeled masks, rather than distilling an open-vocabulary feature field.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2 (Related Work).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Where our design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8 / 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2377440"/>
                <a:gridCol w="2194560"/>
                <a:gridCol w="16459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Renders RGB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Native semantics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Single fused pass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Fixed class set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NeRF [6]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3D Gaussian Splatting [7]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Semantic-NeRF [8]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 (ray integration)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Feature-3DGS [9] / LangSplat [12]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distilled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no (open-vocab)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411480" y="456285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448056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Task A (2D pseudo-labeling) uses SegFormer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479145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a lightweight hierarchical-Transformer encoder (MiT-B0) with an all-MLP decoder — compact enough to fine-tune on a single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2 (Related Work); reference numbers match the paper's own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Part 3: The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9 / 30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441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1 — The task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4884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2140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2 — Related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365760" cy="365760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5E"/>
                </a:solidFill>
                <a:latin typeface="Calibri"/>
              </a:rPr>
              <a:t>Part 3 — The backbone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4 — Our adaptations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5312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5 — Experiments and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2303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6 — Discussion and 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is a 3D Gaussian, intuitively?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10 / 30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17957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97280"/>
            <a:ext cx="5230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A soft, blurry ellipsoid in 3D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408176"/>
            <a:ext cx="5230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not a point, not a triangle — a smooth splat of color with a position, size, orientation, and opacity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91109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28800"/>
            <a:ext cx="5230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A scene = thousands of overlapping splats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39696"/>
            <a:ext cx="5230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rendering a view means projecting every splat onto the image plane and blending them by depth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64261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560320"/>
            <a:ext cx="5230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“Alpha-compositing” = blending front-to-back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71216"/>
            <a:ext cx="5230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each pixel's color is a weighted sum of every splat that covers it, nearest splats contributing most</a:t>
            </a:r>
          </a:p>
        </p:txBody>
      </p:sp>
      <p:pic>
        <p:nvPicPr>
          <p:cNvPr id="14" name="Picture 13" descr="fig4_gaussia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622" y="1005840"/>
            <a:ext cx="4545874" cy="26517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1480" y="36576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11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Key idea:  </a:t>
            </a:r>
            <a:r>
              <a:rPr sz="1400">
                <a:solidFill>
                  <a:srgbClr val="FFFFFF"/>
                </a:solidFill>
              </a:rPr>
              <a:t>Because every rendered pixel traces back to an explicit, addressable set of Gaussians, it is natural to give each Gaussian one more attribute beyond color.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3.4 (Task B: Semantic 3D Gaussian Splatting), Representation.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Adding a semantic channel: one tensor, one rasterization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11 / 30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13385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5156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Each Gaussian already carries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36245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position, scale, rotation, opacity, and RGB color (3 numbers, constrained to [0,1] by a sigmoid)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86537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8308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We add 5 more numbers per Gaussian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9397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unconstrained semantic logits, one per class (background, deck, stay_cable, tower, foundation)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59689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51460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Concatenate: 3 + 5 = 8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2549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rasterized together in a single gsplat pass, sharing the exact same projection, depth order, and blending weights as color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32841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24612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Split the output back apart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55701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channels 0–2 → RGB image; channels 3–7 → semantic logits → argmax → class 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29768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11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Key idea:  </a:t>
            </a:r>
            <a:r>
              <a:rPr sz="1400">
                <a:solidFill>
                  <a:srgbClr val="FFFFFF"/>
                </a:solidFill>
              </a:rPr>
              <a:t>Because RGB and semantics share the same compositing weights, the two outputs are pixel-aligned by construction — no separate alignment step, no extra rasterization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3.4, Fused rendering.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full picture: representation, rendering, and 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12 / 30</a:t>
            </a:r>
          </a:p>
        </p:txBody>
      </p:sp>
      <p:pic>
        <p:nvPicPr>
          <p:cNvPr id="5" name="Picture 4" descr="fig4_gaussia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54" y="914400"/>
            <a:ext cx="9562011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Figure 4 (Section 3.4).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Part 4: Our adaptations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13 / 30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441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1 — The task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4884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2140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2 — Related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3 — The backbone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5E"/>
                </a:solidFill>
                <a:latin typeface="Calibri"/>
              </a:rPr>
              <a:t>Part 4 — Our adaptations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5312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5 — Experiments and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2303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6 — Discussion and conclusion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Starting from a good guess, not from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14 / 30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13385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5156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Triangulate a sparse point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36245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86,319 tracks from the 370 training-pool images (test images excluded, see Part 5) → 84,086 triangulated → 82,518 after outlier filtering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04825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6596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Position + color initialize each Gaussian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7685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not random — real triangulated position, real averaged pixel color from every observing view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96265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88036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Semantic logits initialize by multi-view plurality vote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19125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every labeled view observing a point votes for the class at its feature-track pixel; the winning class gets logit +2, others -2 (a confident but not saturated prior)</a:t>
            </a:r>
          </a:p>
        </p:txBody>
      </p:sp>
      <p:pic>
        <p:nvPicPr>
          <p:cNvPr id="14" name="Picture 13" descr="fig3_cable_v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547" y="3977639"/>
            <a:ext cx="4944425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3.2, Section 3.4 (Initialization); Figure 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Task A: turning 100 unlabeled images into training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15 / 30</a:t>
            </a:r>
          </a:p>
        </p:txBody>
      </p:sp>
      <p:pic>
        <p:nvPicPr>
          <p:cNvPr id="5" name="Picture 4" descr="fig2_segform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7080"/>
            <a:ext cx="6766560" cy="1900719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89520" y="117957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45552" y="1097280"/>
            <a:ext cx="3950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Fine-tune SegFormer (MiT-B0)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1408176"/>
            <a:ext cx="3950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on 240 labeled images, 80 epochs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191109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828800"/>
            <a:ext cx="3950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Select checkpoint by validation mIoU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2139696"/>
            <a:ext cx="3950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on a separate 30-image internal validation split — never the 30-image test split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273405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2651760"/>
            <a:ext cx="3950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Best validation mIoU: 81.67%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962656"/>
            <a:ext cx="3950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at epoch 69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46557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383280"/>
            <a:ext cx="3950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Predict pseudo-masks for 100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3694176"/>
            <a:ext cx="3950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270 labeled + 100 pseudo-labeled = 370 views supervise Task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206240"/>
            <a:ext cx="11247120" cy="100584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5A330B"/>
                </a:solidFill>
              </a:rPr>
              <a:t>Think about it:  </a:t>
            </a:r>
            <a:r>
              <a:rPr sz="1400">
                <a:solidFill>
                  <a:srgbClr val="5A330B"/>
                </a:solidFill>
              </a:rPr>
              <a:t>Checkpoint selection never touches the 30-image test split — an earlier version of our pipeline leaked this and we fixed it (next slides).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3.3 (Task A), Figure 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Adaptation 1: align masks to the space we actually render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16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Problem: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5156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Ground-truth and pseudo masks are rasterized/predicted on the original, lens-distorted photos. But Gaussian Splatting assumes an ideal pinhole camera, so training and rendering happen in an undistorted image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Consequence: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4884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A mask compared pixel-for-pixel against an undistorted render is silently misaligned by several pixels near the frame edges — worst exactly where thin classes like the cable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54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Fix: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15468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Undistort every ground-truth and pseudo mask with the same per-pixel remap used for images, with nearest-neighbor interpolation so discrete class IDs never blur.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1148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11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Key idea:  </a:t>
            </a:r>
            <a:r>
              <a:rPr sz="1400">
                <a:solidFill>
                  <a:srgbClr val="FFFFFF"/>
                </a:solidFill>
              </a:rPr>
              <a:t>A geometric consistency bug, not a modeling choice — fixed once, at the data layer, so every downstream number is computed on correctly aligned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3.2 (Camera Geometry and Sparse Point Initialization).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Adaptation 2: initialize Gaussian color from real pixels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Problem: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An earlier version of our pipeline initialized each Gaussian's RGB from a fixed 5-color class-legend swatch (the same palette used for figures) — not the point's actual observed appearance.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Hypothesis: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96596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Starting the photometric loss from a class-swatch color — not real appearance — makes optimization spend part of its fixed 40,000-step budget just correcting the starting point, converging to a worse final 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Fix: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26080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Sample each point's real RGB from every observing image, averaged over views.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36576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71800"/>
                <a:gridCol w="297180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(class-swatch color)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(real pixel color)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PSNR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21.83 dB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22.13 dB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Structural mIoU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88.97%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869680" y="36576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111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Key idea:  </a:t>
            </a:r>
            <a:r>
              <a:rPr sz="1400">
                <a:solidFill>
                  <a:srgbClr val="FFFFFF"/>
                </a:solidFill>
              </a:rPr>
              <a:t>Test of the hypothesis: every single metric improved after the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paper/DRAFTING_NOTES.md, external review fix #4; src/colmap_io/reconstructor.py sample_point_colors.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Adaptation 3: keep the test split out of the sparse cloud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Problem: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Our training loss and semantic vote always excluded the 30 test images — but sparse triangulation and Gaussian color sampling used observations from all 400 images, test images included.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Fix: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0312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Exclude the 30 test images' 2D observations from every feature track before triangulation; their poses still load (needed to render them at evaluation time), but they cannot influence any point's position or color.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2004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71800"/>
                <a:gridCol w="297180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(test leaked in)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(test fully excluded)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PSNR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22.13 dB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22.43 dB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Structural mIoU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92.08%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11480" y="4572000"/>
            <a:ext cx="11247120" cy="1005840"/>
          </a:xfrm>
          <a:prstGeom prst="roundRect">
            <a:avLst>
              <a:gd name="adj" fmla="val 6000"/>
            </a:avLst>
          </a:prstGeom>
          <a:solidFill>
            <a:srgbClr val="111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FFFFFF"/>
                </a:solidFill>
              </a:rPr>
              <a:t>Key idea:  </a:t>
            </a:r>
            <a:r>
              <a:rPr sz="1400">
                <a:solidFill>
                  <a:srgbClr val="FFFFFF"/>
                </a:solidFill>
              </a:rPr>
              <a:t>Again, every metric improved — consistent with the dense flight's &gt;99% frame-to-frame overlap making a training-adjacent frame almost as informative as the excluded test frame itself.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paper/DRAFTING_NOTES.md, external review fix #5; src/colmap_io/reconstructor.py exclude_image_names.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whole pipeline,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19 / 30</a:t>
            </a:r>
          </a:p>
        </p:txBody>
      </p:sp>
      <p:pic>
        <p:nvPicPr>
          <p:cNvPr id="5" name="Picture 4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715" y="914400"/>
            <a:ext cx="9251529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Figure 1 (Section 3).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Part 5: Experiments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20 / 30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441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1 — The task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4884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2140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2 — Related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3 — The backbone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4 — Our adaptations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5312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5E"/>
                </a:solidFill>
                <a:latin typeface="Calibri"/>
              </a:rPr>
              <a:t>Part 5 — Experiments and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2303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6 — Discussion and conclusion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21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400 UAV images, 1320×989, shared SIMPLE_RADIAL calibration (f≈925.7 px, k₁≈0.009); 300 labeled, 100 unlabeled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240 / 30 / 30 labeled (train / Task A validation / test), strided by flight order; +100 unlabeled via pseudo-labels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8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PSNR, SSIM, LPIPS (visual fidelity); per-class and structural mIoU (semantic accuracy), pooled over all test pixels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8404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84048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Single NVIDIA RTX 3080 (10 GB); 40,000 iterations, seed 42, ≈46 min full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548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1B2A5E"/>
                </a:solidFill>
                <a:latin typeface="Calibri"/>
              </a:rPr>
              <a:t>Fair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75488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Both resolution-ablation runs share the same split, initialization, loss weights, and density-control schedule — only resolution differs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3.6 (Evaluation Protocol), Section 4.1–4.2.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Main result: 30-view local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22 / 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972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PSNR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22.43 dB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SSIM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LPIPS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0.321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5E"/>
                          </a:solidFill>
                        </a:rPr>
                        <a:t>Structural mIoU (4 classes)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5E"/>
                          </a:solidFill>
                        </a:rPr>
                        <a:t>92.08%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mIoU incl. background (5 classes)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93.5%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Illustrative Accuracy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097280"/>
          <a:ext cx="5486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IoU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deck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95.72%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tower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92.37%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stay_cable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91.76%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88.49%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background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99.20%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420624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5A330B"/>
                </a:solidFill>
              </a:rPr>
              <a:t>Think about it:  </a:t>
            </a:r>
            <a:r>
              <a:rPr sz="1400">
                <a:solidFill>
                  <a:srgbClr val="5A330B"/>
                </a:solidFill>
              </a:rPr>
              <a:t>For reference: Task A's own 2D validation mIoU is 81.67% (30-image internal validation, not the test split above) — a different task, split, and role.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Tables 1–3 (Section 5.1).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Per-class IoU: why is the thinnest class not the worst?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23 / 30</a:t>
            </a:r>
          </a:p>
        </p:txBody>
      </p:sp>
      <p:pic>
        <p:nvPicPr>
          <p:cNvPr id="5" name="Picture 4" descr="fig5_per_class_i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9241"/>
            <a:ext cx="5120640" cy="351935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852160" y="117957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08192" y="109728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Cable strands are physically the thinnest 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192" y="1408176"/>
            <a:ext cx="54132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yet stay_cable IoU (91.76%) is within a point of tower and clearly ahead of 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5852160" y="218541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210312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The scored class is a coarse polygon, not the strands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414016"/>
            <a:ext cx="54132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cable covers 7.12% of test pixels — more than deck's 4.99% — because the annotation encloses sky and river between strands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0" y="328269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320040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High cable IoU measures annotation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3511296"/>
            <a:ext cx="54132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not precise recovery of individual cable geometry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428853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4206240"/>
            <a:ext cx="5413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Foundation's lower IoU is not simply fewer observations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4517136"/>
            <a:ext cx="54132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it receives more average observations per point than deck (6.57 vs. 3.12), so observation count alone does not explain the ranking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39496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5A330B"/>
                </a:solidFill>
              </a:rPr>
              <a:t>Think about it:  </a:t>
            </a:r>
            <a:r>
              <a:rPr sz="1400">
                <a:solidFill>
                  <a:srgbClr val="5A330B"/>
                </a:solidFill>
              </a:rPr>
              <a:t>We report these as descriptive statistics, not a confirmed causal explanation — isolating the true cause would need a dedicated error analysis we have not run.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5.2 (Discussion — Per-Class Behavior).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Qualitative check: four held-out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24 / 30</a:t>
            </a:r>
          </a:p>
        </p:txBody>
      </p:sp>
      <p:pic>
        <p:nvPicPr>
          <p:cNvPr id="5" name="Picture 4" descr="fig6_qualitativ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120" y="914400"/>
            <a:ext cx="685728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Figure 6 (Section 5.3): views 010, 050, 250, 300.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Beyond the flight line: interpolated poses and the full 3D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25 / 30</a:t>
            </a:r>
          </a:p>
        </p:txBody>
      </p:sp>
      <p:pic>
        <p:nvPicPr>
          <p:cNvPr id="5" name="Picture 4" descr="fig7_interp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38277"/>
            <a:ext cx="5486400" cy="16896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43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5 poses interpolated between two real test views (images 280, 300). Endpoints and intermediate frames all show some artifacts; broad component regions stay identifiable but boundaries fragment.</a:t>
            </a:r>
          </a:p>
        </p:txBody>
      </p:sp>
      <p:pic>
        <p:nvPicPr>
          <p:cNvPr id="7" name="Picture 6" descr="fig8_splat_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48440"/>
            <a:ext cx="5486400" cy="16692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274320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Interactive-viewer screenshots of the same model: (a) learned RGB, (b) each Gaussian recolored by its own argmax class before rendering. Panel (b) is a different visualization from the evaluated metric, which argmaxes after compositing.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1148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5A330B"/>
                </a:solidFill>
              </a:rPr>
              <a:t>Think about it:  </a:t>
            </a:r>
            <a:r>
              <a:rPr sz="1400">
                <a:solidFill>
                  <a:srgbClr val="5A330B"/>
                </a:solidFill>
              </a:rPr>
              <a:t>Rendering a pose is not the same as being accurate at that pose — we show these views to be transparent about where the system still struggles.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Figures 7–8 (Section 5.3).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Ablation: does training resolution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26 / 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88720"/>
          <a:ext cx="1051559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74519"/>
                <a:gridCol w="1874519"/>
                <a:gridCol w="1874519"/>
                <a:gridCol w="187451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Training resolution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PSNR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SSIM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LPIPS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Structural mIoU</a:t>
                      </a:r>
                    </a:p>
                  </a:txBody>
                  <a:tcPr>
                    <a:solidFill>
                      <a:srgbClr val="1B2A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Half (660×494)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22.03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0.838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0.330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89.71%</a:t>
                      </a:r>
                    </a:p>
                  </a:txBody>
                  <a:tcPr>
                    <a:solidFill>
                      <a:srgbClr val="F2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5E"/>
                          </a:solidFill>
                        </a:rPr>
                        <a:t>Full (1320×989)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5E"/>
                          </a:solidFill>
                        </a:rPr>
                        <a:t>22.43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5E"/>
                          </a:solidFill>
                        </a:rPr>
                        <a:t>0.854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5E"/>
                          </a:solidFill>
                        </a:rPr>
                        <a:t>0.321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2A5E"/>
                          </a:solidFill>
                        </a:rPr>
                        <a:t>92.08%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411480" y="300837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92608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Full resolution wins on every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3697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+0.40 dB PSNR, +0.016 SSIM, −0.009 LPIPS, +2.37 points structural mIoU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364845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56616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Cost: ≈46 minutes vs. ≈18 minutes on the same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87705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a modest absolute difference for the same 40,000-step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48056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/>
            <a:r>
              <a:rPr b="1" sz="1400">
                <a:solidFill>
                  <a:srgbClr val="5A330B"/>
                </a:solidFill>
              </a:rPr>
              <a:t>Think about it:  </a:t>
            </a:r>
            <a:r>
              <a:rPr sz="1400">
                <a:solidFill>
                  <a:srgbClr val="5A330B"/>
                </a:solidFill>
              </a:rPr>
              <a:t>These results support full resolution for this dataset and budget; we have not quantified variation across random seeds, other scenes, or other training budgets.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Table 4, Section 5.5 (Ablation: Training Resolution).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Part 6: Discussion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27 / 30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37160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441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1 — The task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4884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2140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2 — Related work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2608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3 — The backbone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7588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4 — Our adaptations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65760" cy="365760"/>
          </a:xfrm>
          <a:prstGeom prst="ellipse">
            <a:avLst/>
          </a:prstGeom>
          <a:solidFill>
            <a:srgbClr val="C7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5312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CCDD"/>
                </a:solidFill>
                <a:latin typeface="Calibri"/>
              </a:rPr>
              <a:t>Part 5 — Experiments and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23036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5E"/>
                </a:solidFill>
                <a:latin typeface="Calibri"/>
              </a:rPr>
              <a:t>Part 6 — Discussion and conclusion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28 / 30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06984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The split tests interpolation, not extrapolation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990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the strided test split places a training frame next to almost every held-out frame along a dense flight path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057400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39112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Cable IoU reflects an annotation convention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8658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not verified precision at the level of individual strands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044952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0449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26664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Accuracy at distant, off-trajectory viewpoints is unverified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74136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we can render an arbitrary pose, but rendering a pose is not the same as being accurate there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032504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0325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1421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Not evaluated for the actual SHM end 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6168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no damage detection, deformation measurement, or structural response estimation has been tested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5020056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01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Single run per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no multi-seed variance estimate for the headline numbers or the resolution ablation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3.6, Section 5.3, Section 6 (Conclusion).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29 / 30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06984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A semantic 3D Gaussian Splatting system that renders aligned RGB and 5-class semantic maps from any query pose in one fused rasterization pass.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84708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Sparse geometry, observed colors, and multi-view plurality votes warm-start the representation instead of starting from noise.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62432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243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060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SegFormer pseudo-labels extend semantic supervision from 270 to 370 views at no extra annotation cost.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40156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4015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On a local 30-view test split: PSNR 22.43 dB, SSIM 0.854, LPIPS 0.321, 92.08% structural mIoU.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17880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788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Three real pipeline bugs were found and fixed during development — mask alignment, color initialization, and test-split leakage into triangulation — each verified by a measured before/after improvement.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956048"/>
            <a:ext cx="310896" cy="310896"/>
          </a:xfrm>
          <a:prstGeom prst="ellipse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9560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377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Results establish agreement with the released annotations near the flight trajectory, not survey-grade geometric accuracy or unrestricted novel-view fidelity.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Section 6 (Conclusion).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B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2296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References and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5A"/>
                </a:solidFill>
                <a:latin typeface="Calibri"/>
              </a:rPr>
              <a:t>30 / 30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13385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5156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Kerbl, Kopanas, Leimkühler, Drettakis (2023) — 3D Gaussian Splatting for Real-Time Radiance Field Rendering. ACM ToG.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700784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18488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Mildenhall et al. (2020) — NeRF: Representing Scenes as Neural Radiance Fields. ECCV.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267712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85416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Zhi, Laidlow, Leutenegger, Davison (2021) — Semantic-NeRF. ICCV.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834640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752344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Zhou et al. (2024) — Feature 3DGS. CVPR.  ·  Qin et al. (2024) — LangSplat. CVPR.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401568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319272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Xie et al. (2021) — SegFormer. NeurIPS.  ·  Ye et al. (2025) — gsplat. JMLR.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3968496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886200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Lin, Abe, Zheng, Li, Chun (2025) — A structure-oriented loss function for bridge point clouds. CACAIE.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535424"/>
            <a:ext cx="118872" cy="118872"/>
          </a:xfrm>
          <a:prstGeom prst="ellipse">
            <a:avLst/>
          </a:prstGeom>
          <a:solidFill>
            <a:srgbClr val="4A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453128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Full reference list: paper/DRAFT.md References (19 numbered entries).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212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5E"/>
                </a:solidFill>
                <a:latin typeface="Calibri"/>
              </a:rPr>
              <a:t>Code: github.com/zeki-aitech/ic-shm-2026-project-2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9436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2A5E"/>
                </a:solidFill>
                <a:latin typeface="Calibri"/>
              </a:rPr>
              <a:t>Thank you —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5A5A"/>
                </a:solidFill>
                <a:latin typeface="Calibri"/>
              </a:rPr>
              <a:t>Source: paper/DRAFT.md References section and Section 1 (repository link).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